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6"/>
  </p:notesMasterIdLst>
  <p:handoutMasterIdLst>
    <p:handoutMasterId r:id="rId37"/>
  </p:handoutMasterIdLst>
  <p:sldIdLst>
    <p:sldId id="394" r:id="rId2"/>
    <p:sldId id="530" r:id="rId3"/>
    <p:sldId id="531" r:id="rId4"/>
    <p:sldId id="533" r:id="rId5"/>
    <p:sldId id="532" r:id="rId6"/>
    <p:sldId id="561" r:id="rId7"/>
    <p:sldId id="534" r:id="rId8"/>
    <p:sldId id="562" r:id="rId9"/>
    <p:sldId id="563" r:id="rId10"/>
    <p:sldId id="564" r:id="rId11"/>
    <p:sldId id="547" r:id="rId12"/>
    <p:sldId id="536" r:id="rId13"/>
    <p:sldId id="537" r:id="rId14"/>
    <p:sldId id="553" r:id="rId15"/>
    <p:sldId id="549" r:id="rId16"/>
    <p:sldId id="557" r:id="rId17"/>
    <p:sldId id="555" r:id="rId18"/>
    <p:sldId id="554" r:id="rId19"/>
    <p:sldId id="552" r:id="rId20"/>
    <p:sldId id="556" r:id="rId21"/>
    <p:sldId id="538" r:id="rId22"/>
    <p:sldId id="539" r:id="rId23"/>
    <p:sldId id="544" r:id="rId24"/>
    <p:sldId id="545" r:id="rId25"/>
    <p:sldId id="546" r:id="rId26"/>
    <p:sldId id="541" r:id="rId27"/>
    <p:sldId id="542" r:id="rId28"/>
    <p:sldId id="565" r:id="rId29"/>
    <p:sldId id="566" r:id="rId30"/>
    <p:sldId id="543" r:id="rId31"/>
    <p:sldId id="558" r:id="rId32"/>
    <p:sldId id="559" r:id="rId33"/>
    <p:sldId id="560" r:id="rId34"/>
    <p:sldId id="411" r:id="rId35"/>
  </p:sldIdLst>
  <p:sldSz cx="9144000" cy="6858000" type="screen4x3"/>
  <p:notesSz cx="6788150" cy="99171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vantGarde Md BT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vantGarde Md BT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vantGarde Md BT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vantGarde Md BT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vantGarde Md BT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vantGarde Md BT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vantGarde Md BT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vantGarde Md BT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vantGarde Md B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631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C0C0C0"/>
    <a:srgbClr val="00008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5" autoAdjust="0"/>
    <p:restoredTop sz="89947" autoAdjust="0"/>
  </p:normalViewPr>
  <p:slideViewPr>
    <p:cSldViewPr snapToGrid="0" showGuides="1">
      <p:cViewPr varScale="1">
        <p:scale>
          <a:sx n="50" d="100"/>
          <a:sy n="50" d="100"/>
        </p:scale>
        <p:origin x="1616" y="24"/>
      </p:cViewPr>
      <p:guideLst>
        <p:guide pos="2631"/>
        <p:guide orient="horz" pos="2183"/>
      </p:guideLst>
    </p:cSldViewPr>
  </p:slideViewPr>
  <p:outlineViewPr>
    <p:cViewPr>
      <p:scale>
        <a:sx n="33" d="100"/>
        <a:sy n="33" d="100"/>
      </p:scale>
      <p:origin x="0" y="-57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16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4925" y="0"/>
            <a:ext cx="29416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0225"/>
            <a:ext cx="29416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4925" y="9420225"/>
            <a:ext cx="29416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C98EB3-6C16-4985-8C0E-90151B6EFEF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20672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16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4925" y="0"/>
            <a:ext cx="29416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57762" cy="3717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0113"/>
            <a:ext cx="5429250" cy="446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Textmasterformate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0225"/>
            <a:ext cx="29416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4925" y="9420225"/>
            <a:ext cx="29416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4" tIns="45717" rIns="91434" bIns="4571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30181E-5D2A-4521-AB62-A5DCDF40FE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227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vantGarde Md BT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vantGarde Md BT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vantGarde Md BT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vantGarde Md BT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vantGarde Md B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vantGarde Md B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vantGarde Md B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vantGarde Md B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vantGarde Md BT" pitchFamily="34" charset="0"/>
              </a:defRPr>
            </a:lvl9pPr>
          </a:lstStyle>
          <a:p>
            <a:fld id="{6FFE4971-E126-4EB4-9620-21B0D72BAB57}" type="slidenum">
              <a:rPr lang="en-US" altLang="de-DE" sz="1200" smtClean="0">
                <a:latin typeface="Arial" panose="020B0604020202020204" pitchFamily="34" charset="0"/>
              </a:rPr>
              <a:pPr/>
              <a:t>1</a:t>
            </a:fld>
            <a:endParaRPr lang="en-US" altLang="de-DE" sz="1200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471277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30181E-5D2A-4521-AB62-A5DCDF40FEA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584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30181E-5D2A-4521-AB62-A5DCDF40FEA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43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30181E-5D2A-4521-AB62-A5DCDF40FEA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96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30181E-5D2A-4521-AB62-A5DCDF40FEA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95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vantGarde Md BT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vantGarde Md BT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vantGarde Md BT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vantGarde Md BT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vantGarde Md B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vantGarde Md B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vantGarde Md B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vantGarde Md B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vantGarde Md BT" pitchFamily="34" charset="0"/>
              </a:defRPr>
            </a:lvl9pPr>
          </a:lstStyle>
          <a:p>
            <a:fld id="{741F22F1-3397-4DF5-9C31-1415257A1685}" type="slidenum">
              <a:rPr lang="en-US" altLang="de-DE" sz="1200" smtClean="0">
                <a:latin typeface="Arial" panose="020B0604020202020204" pitchFamily="34" charset="0"/>
              </a:rPr>
              <a:pPr/>
              <a:t>34</a:t>
            </a:fld>
            <a:endParaRPr lang="en-US" altLang="de-DE" sz="1200">
              <a:latin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6336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231" y="128873"/>
            <a:ext cx="5951538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18658F7-4D7E-478A-9B6C-8BC319103B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1356489"/>
            <a:ext cx="6134100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5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68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165225"/>
            <a:ext cx="4038600" cy="51435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65225"/>
            <a:ext cx="4038600" cy="51435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3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362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8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31260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6290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46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2929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46900" y="44450"/>
            <a:ext cx="2162175" cy="626427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44450"/>
            <a:ext cx="6337300" cy="626427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92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el und 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sz="quarter"/>
          </p:nvPr>
        </p:nvSpPr>
        <p:spPr>
          <a:xfrm>
            <a:off x="2484438" y="44450"/>
            <a:ext cx="6624637" cy="576263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165225"/>
            <a:ext cx="4038600" cy="249555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4648200" y="1165225"/>
            <a:ext cx="4038600" cy="249555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457200" y="3813175"/>
            <a:ext cx="4038600" cy="249555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8200" y="3813175"/>
            <a:ext cx="4038600" cy="249555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5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627313" y="44450"/>
            <a:ext cx="6481762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 dirty="0" err="1"/>
              <a:t>Titelmasterformat</a:t>
            </a:r>
            <a:r>
              <a:rPr lang="en-US" altLang="de-DE" dirty="0"/>
              <a:t> </a:t>
            </a:r>
            <a:r>
              <a:rPr lang="en-US" altLang="de-DE" dirty="0" err="1"/>
              <a:t>durch</a:t>
            </a:r>
            <a:r>
              <a:rPr lang="en-US" altLang="de-DE" dirty="0"/>
              <a:t> </a:t>
            </a:r>
            <a:r>
              <a:rPr lang="en-US" altLang="de-DE" dirty="0" err="1"/>
              <a:t>Klicken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65225"/>
            <a:ext cx="82296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 dirty="0" err="1"/>
              <a:t>Textmasterformate</a:t>
            </a:r>
            <a:r>
              <a:rPr lang="en-US" altLang="de-DE" dirty="0"/>
              <a:t> </a:t>
            </a:r>
            <a:r>
              <a:rPr lang="en-US" altLang="de-DE" dirty="0" err="1"/>
              <a:t>durch</a:t>
            </a:r>
            <a:r>
              <a:rPr lang="en-US" altLang="de-DE" dirty="0"/>
              <a:t> </a:t>
            </a:r>
            <a:r>
              <a:rPr lang="en-US" altLang="de-DE" dirty="0" err="1"/>
              <a:t>Klicken</a:t>
            </a:r>
            <a:r>
              <a:rPr lang="en-US" altLang="de-DE" dirty="0"/>
              <a:t> </a:t>
            </a:r>
            <a:r>
              <a:rPr lang="en-US" altLang="de-DE" dirty="0" err="1"/>
              <a:t>bearbeiten</a:t>
            </a:r>
            <a:endParaRPr lang="en-US" altLang="de-DE" dirty="0"/>
          </a:p>
          <a:p>
            <a:pPr lvl="1"/>
            <a:r>
              <a:rPr lang="en-US" altLang="de-DE" dirty="0" err="1"/>
              <a:t>Zweite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2"/>
            <a:r>
              <a:rPr lang="en-US" altLang="de-DE" dirty="0" err="1"/>
              <a:t>Dritte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3"/>
            <a:r>
              <a:rPr lang="en-US" altLang="de-DE" dirty="0" err="1"/>
              <a:t>Vierte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  <a:p>
            <a:pPr lvl="4"/>
            <a:r>
              <a:rPr lang="en-US" altLang="de-DE" dirty="0" err="1"/>
              <a:t>Fünfte</a:t>
            </a:r>
            <a:r>
              <a:rPr lang="en-US" altLang="de-DE" dirty="0"/>
              <a:t> </a:t>
            </a:r>
            <a:r>
              <a:rPr lang="en-US" altLang="de-DE" dirty="0" err="1"/>
              <a:t>Ebene</a:t>
            </a:r>
            <a:endParaRPr lang="en-US" altLang="de-DE" dirty="0"/>
          </a:p>
        </p:txBody>
      </p:sp>
      <p:sp>
        <p:nvSpPr>
          <p:cNvPr id="1029" name="Line 7"/>
          <p:cNvSpPr>
            <a:spLocks noChangeShapeType="1"/>
          </p:cNvSpPr>
          <p:nvPr/>
        </p:nvSpPr>
        <p:spPr bwMode="auto">
          <a:xfrm>
            <a:off x="0" y="692150"/>
            <a:ext cx="9144000" cy="0"/>
          </a:xfrm>
          <a:prstGeom prst="line">
            <a:avLst/>
          </a:prstGeom>
          <a:ln>
            <a:solidFill>
              <a:srgbClr val="00457D"/>
            </a:solidFill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eaLnBrk="1" hangingPunct="1">
              <a:defRPr/>
            </a:pPr>
            <a:endParaRPr lang="en-US">
              <a:ln>
                <a:solidFill>
                  <a:srgbClr val="00457D"/>
                </a:solidFill>
              </a:ln>
            </a:endParaRPr>
          </a:p>
        </p:txBody>
      </p:sp>
      <p:sp>
        <p:nvSpPr>
          <p:cNvPr id="1030" name="Text Box 8"/>
          <p:cNvSpPr txBox="1">
            <a:spLocks noChangeArrowheads="1"/>
          </p:cNvSpPr>
          <p:nvPr/>
        </p:nvSpPr>
        <p:spPr bwMode="auto">
          <a:xfrm>
            <a:off x="1258888" y="3429000"/>
            <a:ext cx="44656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endParaRPr lang="en-US">
              <a:solidFill>
                <a:schemeClr val="tx2"/>
              </a:solidFill>
              <a:latin typeface="AvantGarde Md BT" pitchFamily="34" charset="0"/>
            </a:endParaRPr>
          </a:p>
        </p:txBody>
      </p:sp>
      <p:sp>
        <p:nvSpPr>
          <p:cNvPr id="1031" name="Text Box 9"/>
          <p:cNvSpPr txBox="1">
            <a:spLocks noChangeArrowheads="1"/>
          </p:cNvSpPr>
          <p:nvPr/>
        </p:nvSpPr>
        <p:spPr bwMode="auto">
          <a:xfrm>
            <a:off x="1258888" y="3429000"/>
            <a:ext cx="44656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endParaRPr lang="en-US">
              <a:solidFill>
                <a:schemeClr val="tx2"/>
              </a:solidFill>
              <a:latin typeface="AvantGarde Md BT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" y="96838"/>
            <a:ext cx="2395538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14" r:id="rId2"/>
    <p:sldLayoutId id="2147483716" r:id="rId3"/>
    <p:sldLayoutId id="2147483717" r:id="rId4"/>
    <p:sldLayoutId id="2147483718" r:id="rId5"/>
    <p:sldLayoutId id="2147483720" r:id="rId6"/>
    <p:sldLayoutId id="2147483721" r:id="rId7"/>
    <p:sldLayoutId id="2147483722" r:id="rId8"/>
    <p:sldLayoutId id="2147483719" r:id="rId9"/>
    <p:sldLayoutId id="2147483723" r:id="rId10"/>
    <p:sldLayoutId id="214748372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b="1" kern="1200">
          <a:solidFill>
            <a:srgbClr val="00206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b="1">
          <a:solidFill>
            <a:srgbClr val="990033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b="1">
          <a:solidFill>
            <a:srgbClr val="990033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b="1">
          <a:solidFill>
            <a:srgbClr val="990033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b="1">
          <a:solidFill>
            <a:srgbClr val="990033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990033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990033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990033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990033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enhub.com/de/library/anatomie/musculus-auricularis-posterior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e.mathworks.com/help/dsp/ug/cochlear-implant-speech-processor.html" TargetMode="External"/><Relationship Id="rId2" Type="http://schemas.openxmlformats.org/officeDocument/2006/relationships/hyperlink" Target="https://www.leonardoenglish.com/podcasts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62071" y="5034150"/>
            <a:ext cx="878522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br>
              <a:rPr lang="en-US" altLang="de-DE" sz="1600" b="1" dirty="0">
                <a:solidFill>
                  <a:srgbClr val="002060"/>
                </a:solidFill>
                <a:latin typeface="AvantGarde Md BT" pitchFamily="34" charset="0"/>
              </a:rPr>
            </a:br>
            <a:endParaRPr lang="de-DE" altLang="de-DE" sz="1400" b="1" dirty="0">
              <a:solidFill>
                <a:srgbClr val="002060"/>
              </a:solidFill>
              <a:latin typeface="AvantGarde Md BT" pitchFamily="34" charset="0"/>
            </a:endParaRPr>
          </a:p>
          <a:p>
            <a:pPr algn="ctr" eaLnBrk="1" hangingPunct="1">
              <a:spcBef>
                <a:spcPct val="0"/>
              </a:spcBef>
              <a:buNone/>
            </a:pPr>
            <a:r>
              <a:rPr lang="en-US" sz="1800" b="1" dirty="0">
                <a:solidFill>
                  <a:srgbClr val="0070C0"/>
                </a:solidFill>
              </a:rPr>
              <a:t>Asha Babu </a:t>
            </a:r>
            <a:endParaRPr lang="en-US" sz="1800" b="1" dirty="0"/>
          </a:p>
          <a:p>
            <a:pPr algn="ctr" eaLnBrk="1" hangingPunct="1">
              <a:spcBef>
                <a:spcPct val="0"/>
              </a:spcBef>
              <a:buNone/>
            </a:pPr>
            <a:r>
              <a:rPr lang="en-US" sz="1800" b="1" i="1" dirty="0"/>
              <a:t>Electromyographic Correlates of Listening Effort: Differentiating Vestigial </a:t>
            </a:r>
            <a:r>
              <a:rPr lang="en-US" sz="1800" b="1" i="1" dirty="0" err="1"/>
              <a:t>Auriculomotor</a:t>
            </a:r>
            <a:r>
              <a:rPr lang="en-US" sz="1800" b="1" i="1" dirty="0"/>
              <a:t> Activity under High Cognitive Load</a:t>
            </a:r>
            <a:endParaRPr lang="de-DE" sz="1800" b="1" i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de-DE" sz="1400" i="1" dirty="0">
                <a:solidFill>
                  <a:schemeClr val="bg2"/>
                </a:solidFill>
                <a:latin typeface="AvantGarde Md BT" pitchFamily="34" charset="0"/>
              </a:rPr>
              <a:t>13/03/2026 HTW Saar, Germany./ Master 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E0580B-5258-47EC-C487-E46FB9F7E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A4260-9152-A8B9-6FD7-E6A795503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sz="2800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Goal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Cochlea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Materials and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Results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Discussion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Bibliography</a:t>
            </a:r>
          </a:p>
          <a:p>
            <a:pPr marL="0" indent="0">
              <a:buNone/>
            </a:pPr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F6F5FE-D547-FECF-100E-362CCE2E1F5B}"/>
              </a:ext>
            </a:extLst>
          </p:cNvPr>
          <p:cNvSpPr txBox="1"/>
          <p:nvPr/>
        </p:nvSpPr>
        <p:spPr>
          <a:xfrm>
            <a:off x="8336478" y="6399860"/>
            <a:ext cx="350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93314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2E87C-EBE1-4C60-65B2-153B090A0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C77F2-5282-84F8-2BF9-FAA90A1EC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The "Neural Fossil“</a:t>
            </a:r>
            <a:r>
              <a:rPr lang="en-US" sz="1800" dirty="0"/>
              <a:t>[1]</a:t>
            </a:r>
          </a:p>
          <a:p>
            <a:endParaRPr lang="en-US" sz="2400" b="1" dirty="0"/>
          </a:p>
          <a:p>
            <a:r>
              <a:rPr lang="en-US" sz="2400" dirty="0"/>
              <a:t>Why does auditory effort matter?</a:t>
            </a:r>
          </a:p>
          <a:p>
            <a:endParaRPr lang="en-US" sz="2400" dirty="0"/>
          </a:p>
          <a:p>
            <a:r>
              <a:rPr lang="en-US" sz="2400" dirty="0"/>
              <a:t>We must distinguish between automatic orientation (System 1) and effortful, resource-demanding listening (System 2) </a:t>
            </a:r>
            <a:r>
              <a:rPr lang="en-US" sz="1800" dirty="0"/>
              <a:t>[11].</a:t>
            </a:r>
          </a:p>
          <a:p>
            <a:endParaRPr lang="en-US" sz="2400" dirty="0"/>
          </a:p>
          <a:p>
            <a:r>
              <a:rPr lang="en-US" sz="2400" dirty="0"/>
              <a:t>Does this high load "break" our </a:t>
            </a:r>
            <a:r>
              <a:rPr lang="en-US" sz="2400" dirty="0" err="1"/>
              <a:t>auriculomotor</a:t>
            </a:r>
            <a:r>
              <a:rPr lang="en-US" sz="2400" dirty="0"/>
              <a:t> orienting reflex, or does the brain prioritize it to protect the signal?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235A68-DAFF-0D41-7E49-5FB2F142EDB2}"/>
              </a:ext>
            </a:extLst>
          </p:cNvPr>
          <p:cNvSpPr txBox="1"/>
          <p:nvPr/>
        </p:nvSpPr>
        <p:spPr>
          <a:xfrm>
            <a:off x="8336478" y="6399860"/>
            <a:ext cx="350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40112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4F951-FF24-5F86-DF0B-0EA78DEC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2374B8-ED07-D8C3-8555-5E3122F12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13A778-599C-9FD1-2679-9AF89AA98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592" y="765093"/>
            <a:ext cx="5826524" cy="47833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2CCD69-104C-21BE-9E96-E89F2AA8C735}"/>
              </a:ext>
            </a:extLst>
          </p:cNvPr>
          <p:cNvSpPr txBox="1"/>
          <p:nvPr/>
        </p:nvSpPr>
        <p:spPr>
          <a:xfrm>
            <a:off x="1093254" y="5677408"/>
            <a:ext cx="7315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 1: Experimental setup for measuring </a:t>
            </a:r>
            <a:r>
              <a:rPr lang="en-US" sz="1200" dirty="0" err="1"/>
              <a:t>auriculomotor</a:t>
            </a:r>
            <a:r>
              <a:rPr lang="en-US" sz="1200" dirty="0"/>
              <a:t> activity. The black dots indicate the placement of bipolar surface electrodes over the three primary extrinsic ear muscles: the anterior (AAM), superior (SAM), and postauricular (PAM) muscles. An additional electrode placement (EOG) is positioned near the eye to track and filter out gaze-shifting artifacts [3].</a:t>
            </a: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8B99D1-7959-1BF3-6B2D-A8A7AD3F5FDF}"/>
              </a:ext>
            </a:extLst>
          </p:cNvPr>
          <p:cNvSpPr txBox="1"/>
          <p:nvPr/>
        </p:nvSpPr>
        <p:spPr>
          <a:xfrm>
            <a:off x="8336478" y="6399860"/>
            <a:ext cx="350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89925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E7CEB-15E0-F982-99D2-9664DF89D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395D5-7084-EA8A-5313-EDC27B1C4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The Gap:</a:t>
            </a:r>
            <a:r>
              <a:rPr lang="en-US" sz="2400" dirty="0"/>
              <a:t> This study tests whether the PAM acts as an objective, muscle-based </a:t>
            </a:r>
            <a:r>
              <a:rPr lang="en-US" sz="2400" b="1" dirty="0"/>
              <a:t>biomarker of listening effort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By recording from all three extrinsic ear muscles (PAM, SAM, AAM), we isolate the functional response of the PAM from the background noise of generalized cranial muscle tension.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BF2F4-E6E1-1FCB-DB34-0B0103981B00}"/>
              </a:ext>
            </a:extLst>
          </p:cNvPr>
          <p:cNvSpPr txBox="1"/>
          <p:nvPr/>
        </p:nvSpPr>
        <p:spPr>
          <a:xfrm>
            <a:off x="8336478" y="6399860"/>
            <a:ext cx="350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61779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EF264-9B61-F1EA-4CCD-C51ACD65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Cochlea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CD1268-ADD2-051A-BF20-8466D3A12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311442"/>
            <a:ext cx="8229600" cy="4342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6B0CCB-EF43-93CD-717F-9B076E37D729}"/>
              </a:ext>
            </a:extLst>
          </p:cNvPr>
          <p:cNvSpPr txBox="1"/>
          <p:nvPr/>
        </p:nvSpPr>
        <p:spPr>
          <a:xfrm>
            <a:off x="1598951" y="5787190"/>
            <a:ext cx="6943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Figure 2: T o n o t o p i c f r e q u e n c y m a p p i n g a l o n g t h e h u m a n b a s i l a r m e m b r a n e [ 8 ] . 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ECF368-3BB8-59F2-17A7-FDE1F179D1C4}"/>
              </a:ext>
            </a:extLst>
          </p:cNvPr>
          <p:cNvSpPr txBox="1"/>
          <p:nvPr/>
        </p:nvSpPr>
        <p:spPr>
          <a:xfrm>
            <a:off x="8336478" y="6399860"/>
            <a:ext cx="350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36086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CB2EE-7F29-25C5-05F3-44D363088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Materials and Methods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33B8CCE-9BA3-3F00-2728-638D6DE3C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7832" y="1187532"/>
            <a:ext cx="7748336" cy="4756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DD736D-9A38-AEC4-3EFA-256295017729}"/>
              </a:ext>
            </a:extLst>
          </p:cNvPr>
          <p:cNvSpPr txBox="1"/>
          <p:nvPr/>
        </p:nvSpPr>
        <p:spPr>
          <a:xfrm>
            <a:off x="2519027" y="5943600"/>
            <a:ext cx="5145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3. Block diagram of stimuli processing [31]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113023-247D-53D3-B4BF-3FE7DA42E965}"/>
              </a:ext>
            </a:extLst>
          </p:cNvPr>
          <p:cNvSpPr txBox="1"/>
          <p:nvPr/>
        </p:nvSpPr>
        <p:spPr>
          <a:xfrm>
            <a:off x="8336478" y="6399860"/>
            <a:ext cx="350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39666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615E4-7BE3-976B-9C55-E8C5D8D2B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Materials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7F305-6D70-4E1E-5FA0-060C8841B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341E3-6C14-A8DA-1F46-DD1C5C0F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65225"/>
            <a:ext cx="8082484" cy="41925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BB2205-D4C8-43EF-B7FD-8B2C78A211EA}"/>
              </a:ext>
            </a:extLst>
          </p:cNvPr>
          <p:cNvSpPr txBox="1"/>
          <p:nvPr/>
        </p:nvSpPr>
        <p:spPr>
          <a:xfrm>
            <a:off x="2767263" y="5357793"/>
            <a:ext cx="4403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4 Cochlear Implant Simulation Software [23]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44B235-29E1-53D8-5B3A-F9DA2960A607}"/>
              </a:ext>
            </a:extLst>
          </p:cNvPr>
          <p:cNvSpPr txBox="1"/>
          <p:nvPr/>
        </p:nvSpPr>
        <p:spPr>
          <a:xfrm>
            <a:off x="8336478" y="6399860"/>
            <a:ext cx="350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11016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E49377-2AD5-A825-C490-440E3AF9B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941942"/>
            <a:ext cx="8229600" cy="4974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462B5A-24BE-FE82-C195-3A49C0D3D2B0}"/>
              </a:ext>
            </a:extLst>
          </p:cNvPr>
          <p:cNvSpPr txBox="1"/>
          <p:nvPr/>
        </p:nvSpPr>
        <p:spPr>
          <a:xfrm>
            <a:off x="2627313" y="6098786"/>
            <a:ext cx="5403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5 Cochlear Implant Simulation Parameters [23]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EFA7B8-E1A8-588E-118B-0DD913A1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313" y="44450"/>
            <a:ext cx="6481762" cy="576263"/>
          </a:xfrm>
        </p:spPr>
        <p:txBody>
          <a:bodyPr/>
          <a:lstStyle/>
          <a:p>
            <a:r>
              <a:rPr lang="en-IN" dirty="0"/>
              <a:t>Materials and Methods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988F24-3A58-048B-890F-C772ABF894AF}"/>
              </a:ext>
            </a:extLst>
          </p:cNvPr>
          <p:cNvSpPr txBox="1"/>
          <p:nvPr/>
        </p:nvSpPr>
        <p:spPr>
          <a:xfrm>
            <a:off x="8336478" y="6399860"/>
            <a:ext cx="350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44638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8B8EE-D7F4-316B-F516-6A06A62E7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Materials and Methods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1A1CE0-4149-8447-62F8-63FA5DF06C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5719" y="1084812"/>
            <a:ext cx="4945513" cy="4400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FACCCC-42C9-A5D1-2078-555E81F2D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232" y="1084812"/>
            <a:ext cx="4102768" cy="4400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5961F2-F27E-5B9F-26A7-B13D0AA9BF50}"/>
              </a:ext>
            </a:extLst>
          </p:cNvPr>
          <p:cNvSpPr txBox="1"/>
          <p:nvPr/>
        </p:nvSpPr>
        <p:spPr>
          <a:xfrm>
            <a:off x="3971984" y="5672346"/>
            <a:ext cx="3295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7. Experimental Setup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40A37A-34C2-AD82-B31E-C08F0C050661}"/>
              </a:ext>
            </a:extLst>
          </p:cNvPr>
          <p:cNvSpPr txBox="1"/>
          <p:nvPr/>
        </p:nvSpPr>
        <p:spPr>
          <a:xfrm>
            <a:off x="8336478" y="6399860"/>
            <a:ext cx="350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1629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54C02-F614-7967-7B51-7D129ABC0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Materials and Methods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B86E67-3330-1636-7089-4801C3125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38"/>
          <a:stretch>
            <a:fillRect/>
          </a:stretch>
        </p:blipFill>
        <p:spPr bwMode="auto">
          <a:xfrm rot="16200000">
            <a:off x="190977" y="924902"/>
            <a:ext cx="4405443" cy="4717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8FD150-F919-059B-9798-B021E3CEEF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9" t="2879" r="3560" b="15054"/>
          <a:stretch>
            <a:fillRect/>
          </a:stretch>
        </p:blipFill>
        <p:spPr>
          <a:xfrm rot="16200000">
            <a:off x="4728056" y="1105376"/>
            <a:ext cx="4405440" cy="43566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6FE335-C2CA-1C44-84E3-0C560974D5A0}"/>
              </a:ext>
            </a:extLst>
          </p:cNvPr>
          <p:cNvSpPr txBox="1"/>
          <p:nvPr/>
        </p:nvSpPr>
        <p:spPr>
          <a:xfrm>
            <a:off x="3204619" y="5562220"/>
            <a:ext cx="3550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8. Data sheets of Subjective Measurements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19EA2B-5F02-AC52-A246-C3D40EEC52F0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07075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D87FC-6E07-4E47-54AA-A30ABD86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Materials and Methods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A2C394-10FA-ABA5-5B6D-BA7EACA964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0124" y="737604"/>
            <a:ext cx="7265097" cy="527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D76138-ABF5-8C64-E35A-AEF0C40C3EEB}"/>
              </a:ext>
            </a:extLst>
          </p:cNvPr>
          <p:cNvSpPr txBox="1"/>
          <p:nvPr/>
        </p:nvSpPr>
        <p:spPr>
          <a:xfrm>
            <a:off x="2522256" y="5994180"/>
            <a:ext cx="5700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9. Block diagram of Signal processing[31]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F9E097-9031-DFC1-B5AC-6D72423A10FA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10563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10069-CF18-0E0D-B3A1-5263597AA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Materials and Methods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9DE6B2-F864-AD57-176D-F72E2D34F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380523" y="915235"/>
            <a:ext cx="4361370" cy="426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CCEE02-6ED7-3E85-7A40-48AF67F0A2D6}"/>
              </a:ext>
            </a:extLst>
          </p:cNvPr>
          <p:cNvSpPr txBox="1"/>
          <p:nvPr/>
        </p:nvSpPr>
        <p:spPr>
          <a:xfrm>
            <a:off x="3652878" y="5264857"/>
            <a:ext cx="5379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10. Filtered PAM and EOG signals[32].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7F4B3F-D2AA-FEE5-1BC5-D91365C49D8B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EA97F6-FC4D-6739-B797-65A6006C6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630" y="1102825"/>
            <a:ext cx="4249770" cy="407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55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11DE-76FC-937F-4B99-F6BA6D81A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253A6-03F3-0502-739A-5F6B1D10D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Subjective Analysis – Percentage Understood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589069-EBD2-BE37-D4BB-845118ADDB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695" y="1094874"/>
            <a:ext cx="4475747" cy="488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DCA5E8-D1D5-A9CE-1AFB-4AA829139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22706" y="1734451"/>
            <a:ext cx="5016757" cy="37625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A9E367-4ED2-7256-C7CC-623FDBAE9A0F}"/>
              </a:ext>
            </a:extLst>
          </p:cNvPr>
          <p:cNvSpPr txBox="1"/>
          <p:nvPr/>
        </p:nvSpPr>
        <p:spPr>
          <a:xfrm>
            <a:off x="2943015" y="5944032"/>
            <a:ext cx="5379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11. Subjective Analysis of  Percentage Understood[32]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F20EE-E65D-A178-5A27-A0897B89CDBA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60592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BA5E-3A46-0AA7-69D0-40A33BB6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Subjective Analysis - Effort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696309-099A-CD74-853D-F82BFDB35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695" y="1094874"/>
            <a:ext cx="4475747" cy="488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132A53-15C0-0212-89A4-560F5B44CB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22706" y="1734451"/>
            <a:ext cx="5016757" cy="37625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F75FB0-B580-4AB4-B0D3-414BA27598C9}"/>
              </a:ext>
            </a:extLst>
          </p:cNvPr>
          <p:cNvSpPr txBox="1"/>
          <p:nvPr/>
        </p:nvSpPr>
        <p:spPr>
          <a:xfrm>
            <a:off x="2943015" y="5944032"/>
            <a:ext cx="5379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12. Subjective Analysis of  Percentage Effort[32]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43118B-9297-FE54-217C-1240D174EA75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11420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A8B33-3E4C-122C-B6F4-4B13A7F8C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C43B-B3FF-A6F9-359B-B7E95325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Subjective Analysis - Frustration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535821-94D7-A1EE-150D-40DD83ED1B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95" y="1094874"/>
            <a:ext cx="4475747" cy="488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8EF818-4775-76B0-0D4D-2C829A382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706" y="1468343"/>
            <a:ext cx="5016757" cy="42947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F92564-4296-41D8-9DBC-031F7DA6FC93}"/>
              </a:ext>
            </a:extLst>
          </p:cNvPr>
          <p:cNvSpPr txBox="1"/>
          <p:nvPr/>
        </p:nvSpPr>
        <p:spPr>
          <a:xfrm>
            <a:off x="2943015" y="5944032"/>
            <a:ext cx="5379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13. Subjective Analysis of  Frustration[32]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D4C94-1F13-88FB-FD5E-8C49AE4D1ECE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459088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2B242-21E3-C46B-F779-4E62E6BF6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E6F2-A1D7-6FEA-31D7-175A2C8C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Subjective Analysis -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C5EC8B-7AFC-AD34-6845-89DBCC6F0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695" y="1094874"/>
            <a:ext cx="4475747" cy="488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269AF1-E2F2-046E-A55B-275B1A919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22706" y="1734451"/>
            <a:ext cx="5016757" cy="37625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F1E552-6153-6D02-2822-206DA31E232C}"/>
              </a:ext>
            </a:extLst>
          </p:cNvPr>
          <p:cNvSpPr txBox="1"/>
          <p:nvPr/>
        </p:nvSpPr>
        <p:spPr>
          <a:xfrm>
            <a:off x="2943015" y="5944032"/>
            <a:ext cx="5379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14. Subjective Analysis of  Performance[32]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58F4A0-A9DA-BACB-5BED-A96BE4392C7F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07566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4F386-7921-26B6-2E16-E33E4FD19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26B92-3555-CA44-DE83-84A6040C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Subjective Analysis -  Listening Effort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2EB066-3CFB-F1BA-0678-6F24E5072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695" y="1094874"/>
            <a:ext cx="4475747" cy="488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A0E75D-6405-0693-3BAA-9A51F72CD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22706" y="1734451"/>
            <a:ext cx="5016757" cy="37625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84578B-8634-1751-DF02-57E97104EE00}"/>
              </a:ext>
            </a:extLst>
          </p:cNvPr>
          <p:cNvSpPr txBox="1"/>
          <p:nvPr/>
        </p:nvSpPr>
        <p:spPr>
          <a:xfrm>
            <a:off x="2943015" y="5944032"/>
            <a:ext cx="5379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15. Subjective Analysis of  Listening Effort[32]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B1A61F-D7AD-B397-4B50-8377266DBC84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218859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32596-3034-A7DD-DC59-BCC180D59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A4F6F-C8F6-9B82-BD63-38623AFA3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Subjective Analysis – Speech Intelligibility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DA66E4-E2BB-B587-DD75-2172780C3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695" y="1094874"/>
            <a:ext cx="4475747" cy="488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9064CC-5A10-4974-12F4-ACC34B390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22706" y="1734451"/>
            <a:ext cx="5016757" cy="37625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BD47A1-480A-5B14-5262-53DB33EFEFA0}"/>
              </a:ext>
            </a:extLst>
          </p:cNvPr>
          <p:cNvSpPr txBox="1"/>
          <p:nvPr/>
        </p:nvSpPr>
        <p:spPr>
          <a:xfrm>
            <a:off x="2943015" y="5944032"/>
            <a:ext cx="5379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16. Subjective Analysis of  Speech Intelligibility[32]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241C91-ECA1-9938-570D-11F7360C7C4A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601295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827B2-4C90-FFC2-8E99-37C5E361A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9BE9E-B6A3-8A29-C2F7-205B13169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Subjective Analysis – MCQ’s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6C4520-2560-F277-DA70-BD2416CF9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695" y="1094874"/>
            <a:ext cx="4475747" cy="488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229035-8077-017D-830C-9EE3EA30B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22706" y="1734451"/>
            <a:ext cx="5016756" cy="37625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B89789-37B9-BF2D-7A70-4481878C3D8E}"/>
              </a:ext>
            </a:extLst>
          </p:cNvPr>
          <p:cNvSpPr txBox="1"/>
          <p:nvPr/>
        </p:nvSpPr>
        <p:spPr>
          <a:xfrm>
            <a:off x="2943015" y="5944032"/>
            <a:ext cx="5379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17. Subjective Analysis of  MCQ’s[32]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5ADBC4-9E9E-6D95-C385-F025397A172A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529223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9149-4206-C2BC-BCDD-E8FEFA652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Analysis - PAM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FCF93EA4-16DA-D1E4-B294-2902A7ECA9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9223025"/>
              </p:ext>
            </p:extLst>
          </p:nvPr>
        </p:nvGraphicFramePr>
        <p:xfrm>
          <a:off x="457200" y="974792"/>
          <a:ext cx="8229600" cy="2733040"/>
        </p:xfrm>
        <a:graphic>
          <a:graphicData uri="http://schemas.openxmlformats.org/drawingml/2006/table">
            <a:tbl>
              <a:tblPr/>
              <a:tblGrid>
                <a:gridCol w="1620335">
                  <a:extLst>
                    <a:ext uri="{9D8B030D-6E8A-4147-A177-3AD203B41FA5}">
                      <a16:colId xmlns:a16="http://schemas.microsoft.com/office/drawing/2014/main" val="3793709232"/>
                    </a:ext>
                  </a:extLst>
                </a:gridCol>
                <a:gridCol w="1620336">
                  <a:extLst>
                    <a:ext uri="{9D8B030D-6E8A-4147-A177-3AD203B41FA5}">
                      <a16:colId xmlns:a16="http://schemas.microsoft.com/office/drawing/2014/main" val="2024841580"/>
                    </a:ext>
                  </a:extLst>
                </a:gridCol>
                <a:gridCol w="1620336">
                  <a:extLst>
                    <a:ext uri="{9D8B030D-6E8A-4147-A177-3AD203B41FA5}">
                      <a16:colId xmlns:a16="http://schemas.microsoft.com/office/drawing/2014/main" val="4001960329"/>
                    </a:ext>
                  </a:extLst>
                </a:gridCol>
                <a:gridCol w="1620336">
                  <a:extLst>
                    <a:ext uri="{9D8B030D-6E8A-4147-A177-3AD203B41FA5}">
                      <a16:colId xmlns:a16="http://schemas.microsoft.com/office/drawing/2014/main" val="3488346040"/>
                    </a:ext>
                  </a:extLst>
                </a:gridCol>
                <a:gridCol w="1748257">
                  <a:extLst>
                    <a:ext uri="{9D8B030D-6E8A-4147-A177-3AD203B41FA5}">
                      <a16:colId xmlns:a16="http://schemas.microsoft.com/office/drawing/2014/main" val="2893246970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Source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F-value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p-value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Effect Size (</a:t>
                      </a:r>
                      <a:r>
                        <a:rPr lang="el-GR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η2)</a:t>
                      </a:r>
                      <a:endParaRPr lang="el-GR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Interpretation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647024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Position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30.67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&lt; .001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0.367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Strong Main Effect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503443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Difficulty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5.497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.037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0.023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Significant Main Effect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42401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Lat * Diff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7.522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.018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0.018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Significant Interaction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03399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85DB4E-FAC1-C116-FAC2-49097A9F6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675324"/>
              </p:ext>
            </p:extLst>
          </p:nvPr>
        </p:nvGraphicFramePr>
        <p:xfrm>
          <a:off x="457199" y="3792040"/>
          <a:ext cx="8229600" cy="189865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399559855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13815527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77198415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1478806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45963208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725574796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Simple Main Effects - Difficulty</a:t>
                      </a: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R="635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249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Level of Laterality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Sum of Squares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df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Mean Square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721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720"/>
                        </a:spcAft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Ipsi</a:t>
                      </a:r>
                    </a:p>
                  </a:txBody>
                  <a:tcPr marL="76200" marR="76200" marT="6858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720"/>
                        </a:spcAft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6.363×10</a:t>
                      </a:r>
                      <a:r>
                        <a:rPr lang="en-IN" b="0" baseline="30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</a:t>
                      </a: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0" marR="76200" marT="6858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720"/>
                        </a:spcAft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0" marR="76200" marT="6858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720"/>
                        </a:spcAft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6.363×10</a:t>
                      </a:r>
                      <a:r>
                        <a:rPr lang="en-IN" b="0" baseline="30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</a:t>
                      </a: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0" marR="76200" marT="6858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720"/>
                        </a:spcAft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0.031</a:t>
                      </a:r>
                    </a:p>
                  </a:txBody>
                  <a:tcPr marL="76200" marR="76200" marT="6858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720"/>
                        </a:spcAft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.864</a:t>
                      </a:r>
                    </a:p>
                  </a:txBody>
                  <a:tcPr marL="76200" marR="76200" marT="6858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94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Contra</a:t>
                      </a:r>
                    </a:p>
                  </a:txBody>
                  <a:tcPr marL="76200" marR="76200" marT="63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0.206</a:t>
                      </a:r>
                    </a:p>
                  </a:txBody>
                  <a:tcPr marL="76200" marR="76200" marT="63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0" marR="76200" marT="63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0.206</a:t>
                      </a:r>
                    </a:p>
                  </a:txBody>
                  <a:tcPr marL="76200" marR="76200" marT="63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9.866</a:t>
                      </a:r>
                    </a:p>
                  </a:txBody>
                  <a:tcPr marL="76200" marR="76200" marT="63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.009</a:t>
                      </a:r>
                    </a:p>
                  </a:txBody>
                  <a:tcPr marL="76200" marR="76200" marT="63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55603"/>
                  </a:ext>
                </a:extLst>
              </a:tr>
              <a:tr h="0">
                <a:tc grid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Note.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 Type III Sum of Squares</a:t>
                      </a:r>
                    </a:p>
                  </a:txBody>
                  <a:tcPr marR="76200" marT="63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0935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1CFC12C-1BDC-332E-C8DF-93873726145C}"/>
              </a:ext>
            </a:extLst>
          </p:cNvPr>
          <p:cNvSpPr txBox="1"/>
          <p:nvPr/>
        </p:nvSpPr>
        <p:spPr>
          <a:xfrm>
            <a:off x="2627313" y="5752553"/>
            <a:ext cx="4524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Table 1. Repeated Measures </a:t>
            </a:r>
            <a:r>
              <a:rPr lang="en-IN" sz="1200" dirty="0" err="1"/>
              <a:t>Annova</a:t>
            </a:r>
            <a:r>
              <a:rPr lang="en-IN" sz="1200" dirty="0"/>
              <a:t> Table of PAM[29]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A558A5-B6EC-4F6A-783A-43EEB8FB7596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506247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084B1-F94A-BCC8-49A9-C349CF36F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Analysis - PAM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802954-6796-A30F-CDC1-74E8F83C6B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6836107"/>
              </p:ext>
            </p:extLst>
          </p:nvPr>
        </p:nvGraphicFramePr>
        <p:xfrm>
          <a:off x="1022684" y="1077024"/>
          <a:ext cx="6689556" cy="3732208"/>
        </p:xfrm>
        <a:graphic>
          <a:graphicData uri="http://schemas.openxmlformats.org/drawingml/2006/table">
            <a:tbl>
              <a:tblPr/>
              <a:tblGrid>
                <a:gridCol w="557463">
                  <a:extLst>
                    <a:ext uri="{9D8B030D-6E8A-4147-A177-3AD203B41FA5}">
                      <a16:colId xmlns:a16="http://schemas.microsoft.com/office/drawing/2014/main" val="2587194375"/>
                    </a:ext>
                  </a:extLst>
                </a:gridCol>
                <a:gridCol w="557463">
                  <a:extLst>
                    <a:ext uri="{9D8B030D-6E8A-4147-A177-3AD203B41FA5}">
                      <a16:colId xmlns:a16="http://schemas.microsoft.com/office/drawing/2014/main" val="3333163055"/>
                    </a:ext>
                  </a:extLst>
                </a:gridCol>
                <a:gridCol w="557463">
                  <a:extLst>
                    <a:ext uri="{9D8B030D-6E8A-4147-A177-3AD203B41FA5}">
                      <a16:colId xmlns:a16="http://schemas.microsoft.com/office/drawing/2014/main" val="3932630260"/>
                    </a:ext>
                  </a:extLst>
                </a:gridCol>
                <a:gridCol w="557463">
                  <a:extLst>
                    <a:ext uri="{9D8B030D-6E8A-4147-A177-3AD203B41FA5}">
                      <a16:colId xmlns:a16="http://schemas.microsoft.com/office/drawing/2014/main" val="1004533796"/>
                    </a:ext>
                  </a:extLst>
                </a:gridCol>
                <a:gridCol w="557463">
                  <a:extLst>
                    <a:ext uri="{9D8B030D-6E8A-4147-A177-3AD203B41FA5}">
                      <a16:colId xmlns:a16="http://schemas.microsoft.com/office/drawing/2014/main" val="1009200313"/>
                    </a:ext>
                  </a:extLst>
                </a:gridCol>
                <a:gridCol w="557463">
                  <a:extLst>
                    <a:ext uri="{9D8B030D-6E8A-4147-A177-3AD203B41FA5}">
                      <a16:colId xmlns:a16="http://schemas.microsoft.com/office/drawing/2014/main" val="2054625932"/>
                    </a:ext>
                  </a:extLst>
                </a:gridCol>
                <a:gridCol w="557463">
                  <a:extLst>
                    <a:ext uri="{9D8B030D-6E8A-4147-A177-3AD203B41FA5}">
                      <a16:colId xmlns:a16="http://schemas.microsoft.com/office/drawing/2014/main" val="3402906782"/>
                    </a:ext>
                  </a:extLst>
                </a:gridCol>
                <a:gridCol w="557463">
                  <a:extLst>
                    <a:ext uri="{9D8B030D-6E8A-4147-A177-3AD203B41FA5}">
                      <a16:colId xmlns:a16="http://schemas.microsoft.com/office/drawing/2014/main" val="4277256713"/>
                    </a:ext>
                  </a:extLst>
                </a:gridCol>
                <a:gridCol w="557463">
                  <a:extLst>
                    <a:ext uri="{9D8B030D-6E8A-4147-A177-3AD203B41FA5}">
                      <a16:colId xmlns:a16="http://schemas.microsoft.com/office/drawing/2014/main" val="3769987424"/>
                    </a:ext>
                  </a:extLst>
                </a:gridCol>
                <a:gridCol w="557463">
                  <a:extLst>
                    <a:ext uri="{9D8B030D-6E8A-4147-A177-3AD203B41FA5}">
                      <a16:colId xmlns:a16="http://schemas.microsoft.com/office/drawing/2014/main" val="163326413"/>
                    </a:ext>
                  </a:extLst>
                </a:gridCol>
                <a:gridCol w="557463">
                  <a:extLst>
                    <a:ext uri="{9D8B030D-6E8A-4147-A177-3AD203B41FA5}">
                      <a16:colId xmlns:a16="http://schemas.microsoft.com/office/drawing/2014/main" val="2046185152"/>
                    </a:ext>
                  </a:extLst>
                </a:gridCol>
                <a:gridCol w="557463">
                  <a:extLst>
                    <a:ext uri="{9D8B030D-6E8A-4147-A177-3AD203B41FA5}">
                      <a16:colId xmlns:a16="http://schemas.microsoft.com/office/drawing/2014/main" val="3840712003"/>
                    </a:ext>
                  </a:extLst>
                </a:gridCol>
              </a:tblGrid>
              <a:tr h="127166">
                <a:tc gridSpan="1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Post Hoc Comparisons - Laterality ✻ Difficulty</a:t>
                      </a:r>
                      <a:r>
                        <a:rPr lang="en-IN" sz="10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49018" marR="34040" marT="20424" marB="20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681530"/>
                  </a:ext>
                </a:extLst>
              </a:tr>
              <a:tr h="303745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0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95% CI for Mean Difference</a:t>
                      </a: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000" b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95% CI for Cohen's d</a:t>
                      </a: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0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681017"/>
                  </a:ext>
                </a:extLst>
              </a:tr>
              <a:tr h="497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000" b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000" b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Lower</a:t>
                      </a: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Upper</a:t>
                      </a: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</a:t>
                      </a: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df</a:t>
                      </a: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Cohen's d</a:t>
                      </a: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Lower</a:t>
                      </a: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Upper</a:t>
                      </a: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</a:t>
                      </a:r>
                      <a:r>
                        <a:rPr lang="en-IN" sz="1000" b="0" baseline="-25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Holm</a:t>
                      </a:r>
                      <a:r>
                        <a:rPr lang="en-IN" sz="10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40848" marR="40848" marT="10212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413871"/>
                  </a:ext>
                </a:extLst>
              </a:tr>
              <a:tr h="3212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Ipsi, Easy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Contra, Easy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0.053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-0.089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0.194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0.045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1.179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0.236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-0.413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0.886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.668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200643"/>
                  </a:ext>
                </a:extLst>
              </a:tr>
              <a:tr h="2992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Ipsi, Difficult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-0.007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-0.134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0.120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0.040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-0.173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-0.031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-0.599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0.537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.865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520998"/>
                  </a:ext>
                </a:extLst>
              </a:tr>
              <a:tr h="3960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Contra, Difficult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-0.073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-0.229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0.083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0.050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-1.472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-0.325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-1.053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0.403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.668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738215"/>
                  </a:ext>
                </a:extLst>
              </a:tr>
              <a:tr h="3212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Contra, Easy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Ipsi, Difficult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-0.060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-0.191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0.071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0.042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-1.439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-0.267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-0.878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0.343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.668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035725"/>
                  </a:ext>
                </a:extLst>
              </a:tr>
              <a:tr h="396034">
                <a:tc>
                  <a:txBody>
                    <a:bodyPr/>
                    <a:lstStyle/>
                    <a:p>
                      <a:pPr algn="l">
                        <a:spcAft>
                          <a:spcPts val="720"/>
                        </a:spcAft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720"/>
                        </a:spcAft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Contra, Difficult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720"/>
                        </a:spcAft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-0.126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720"/>
                        </a:spcAft>
                        <a:buNone/>
                      </a:pPr>
                      <a:r>
                        <a:rPr lang="en-IN" sz="10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-0.221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720"/>
                        </a:spcAft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-0.030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720"/>
                        </a:spcAft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0.030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720"/>
                        </a:spcAft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720"/>
                        </a:spcAft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-4.156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720"/>
                        </a:spcAft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-0.562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720"/>
                        </a:spcAft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-1.120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720"/>
                        </a:spcAft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-0.003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720"/>
                        </a:spcAft>
                        <a:buNone/>
                      </a:pPr>
                      <a:r>
                        <a:rPr lang="en-IN" sz="10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.008</a:t>
                      </a:r>
                    </a:p>
                  </a:txBody>
                  <a:tcPr marL="4084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387494"/>
                  </a:ext>
                </a:extLst>
              </a:tr>
              <a:tr h="4179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Ipsi, Difficult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Contra, Difficult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-0.066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-0.188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0.056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0.039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-1.698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-0.294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-0.872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0.284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.577</a:t>
                      </a:r>
                    </a:p>
                  </a:txBody>
                  <a:tcPr marL="40848" marR="40848" marT="3676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043536"/>
                  </a:ext>
                </a:extLst>
              </a:tr>
              <a:tr h="209532">
                <a:tc gridSpan="1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Note.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 P-value and confidence intervals adjusted for comparing a family of 6 estimates (confidence intervals corrected using the Bonferroni method).</a:t>
                      </a:r>
                    </a:p>
                  </a:txBody>
                  <a:tcPr marL="4901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188699"/>
                  </a:ext>
                </a:extLst>
              </a:tr>
              <a:tr h="109246">
                <a:tc gridSpan="1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Note.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 Results are averaged over the levels of: Position</a:t>
                      </a:r>
                    </a:p>
                  </a:txBody>
                  <a:tcPr marL="49018" marR="40848" marT="3404" marB="102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7949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8FB4F8-8D23-EF9E-4777-1C1CC6D1938C}"/>
              </a:ext>
            </a:extLst>
          </p:cNvPr>
          <p:cNvSpPr txBox="1"/>
          <p:nvPr/>
        </p:nvSpPr>
        <p:spPr>
          <a:xfrm>
            <a:off x="2772888" y="4809232"/>
            <a:ext cx="3832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Table 2. Post Hoc Comparison of Laterality vs Difficulty[29]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0EFA9-A4EA-8B8A-3AA8-B37274C5AD67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846166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0B01-BCBD-6C1E-D2C6-B407A5D1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Analysis - PAM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C97E22-D1FA-1205-2255-9E3FCD8F5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7740" y="1457890"/>
            <a:ext cx="4290514" cy="4290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34F02C-6111-1717-5F79-984EDB907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094" y="1612423"/>
            <a:ext cx="4135981" cy="41359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364EF4-48AB-41E5-4627-609D5D613FFD}"/>
              </a:ext>
            </a:extLst>
          </p:cNvPr>
          <p:cNvSpPr txBox="1"/>
          <p:nvPr/>
        </p:nvSpPr>
        <p:spPr>
          <a:xfrm>
            <a:off x="5645553" y="997865"/>
            <a:ext cx="331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PAM Difficulty is significant at *p&lt;0.037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08691-97E6-B4EA-87DB-AB7DF7832E50}"/>
              </a:ext>
            </a:extLst>
          </p:cNvPr>
          <p:cNvSpPr txBox="1"/>
          <p:nvPr/>
        </p:nvSpPr>
        <p:spPr>
          <a:xfrm>
            <a:off x="1355039" y="997865"/>
            <a:ext cx="331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PAM position is significant at *p&lt;0.001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BD6E1D-BEE5-B2DC-B8F3-1714B59D4AD0}"/>
              </a:ext>
            </a:extLst>
          </p:cNvPr>
          <p:cNvSpPr txBox="1"/>
          <p:nvPr/>
        </p:nvSpPr>
        <p:spPr>
          <a:xfrm>
            <a:off x="2921330" y="5721635"/>
            <a:ext cx="4574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18. Bar Plot of Position *p &lt; 0.001 and Difficulty *P &lt; 0.037[29]</a:t>
            </a:r>
          </a:p>
          <a:p>
            <a:endParaRPr lang="en-IN" sz="1200" dirty="0"/>
          </a:p>
          <a:p>
            <a:r>
              <a:rPr lang="en-IN" sz="1600" dirty="0"/>
              <a:t>*Significant at p &lt; 0.05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F6824C-78A3-D009-74F1-4964627B714F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80889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FEC2-3C2D-085D-C051-7DF7B1499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Analysis - PAM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A6F437-FBF5-E6C4-7044-DE84D8462F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0143" y="1806022"/>
            <a:ext cx="4694339" cy="3644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85135A-4320-CF93-E684-A9C3049604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031" y="1950400"/>
            <a:ext cx="4537527" cy="3165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EA9527-1ECB-AA9E-CDBC-7609E9D7EEDD}"/>
              </a:ext>
            </a:extLst>
          </p:cNvPr>
          <p:cNvSpPr txBox="1"/>
          <p:nvPr/>
        </p:nvSpPr>
        <p:spPr>
          <a:xfrm>
            <a:off x="1064657" y="1098136"/>
            <a:ext cx="3313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Back vs Laterality vs Difficulty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81B9C8-074A-16FD-B2AE-E93E1644D672}"/>
              </a:ext>
            </a:extLst>
          </p:cNvPr>
          <p:cNvSpPr txBox="1"/>
          <p:nvPr/>
        </p:nvSpPr>
        <p:spPr>
          <a:xfrm>
            <a:off x="5367958" y="1118184"/>
            <a:ext cx="3313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Front vs Laterality vs Difficulty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F2D618-FC34-FA40-FA87-3FBF36416A9F}"/>
              </a:ext>
            </a:extLst>
          </p:cNvPr>
          <p:cNvSpPr txBox="1"/>
          <p:nvPr/>
        </p:nvSpPr>
        <p:spPr>
          <a:xfrm>
            <a:off x="1696452" y="5548301"/>
            <a:ext cx="59436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19. Descriptive Plot of Three-way Interaction at Lat vs Diff Significant at *p &lt; 0.018[29]</a:t>
            </a:r>
          </a:p>
          <a:p>
            <a:endParaRPr lang="en-IN" sz="1200" dirty="0"/>
          </a:p>
          <a:p>
            <a:r>
              <a:rPr lang="en-IN" sz="1600" dirty="0"/>
              <a:t>*Significant at p &lt; 0.05</a:t>
            </a:r>
          </a:p>
          <a:p>
            <a:endParaRPr lang="en-IN" sz="1200" dirty="0"/>
          </a:p>
          <a:p>
            <a:endParaRPr lang="en-IN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A3169D-B73D-731E-A250-B0988321727D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501616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FF41B-BF4F-5878-07CE-05CA40742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Analysis - PAM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7A6164-FCCD-DF0D-8728-988950EC1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31060" y="1262448"/>
            <a:ext cx="3808083" cy="3808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D31954-B4BD-0EC6-7B62-7D8C4FF68847}"/>
              </a:ext>
            </a:extLst>
          </p:cNvPr>
          <p:cNvSpPr txBox="1"/>
          <p:nvPr/>
        </p:nvSpPr>
        <p:spPr>
          <a:xfrm>
            <a:off x="3813854" y="5070531"/>
            <a:ext cx="3871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Figure 20. Q-Q Plot of PAM[29].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3E1624-09CC-7F60-8A6B-06EEFDA5E6B5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298615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08A4F-F124-D981-7140-50D441A92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Analysis – PAM, SAM, AAM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E2C3B79-25F8-3F74-5CE8-9A026BFD6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0840681"/>
              </p:ext>
            </p:extLst>
          </p:nvPr>
        </p:nvGraphicFramePr>
        <p:xfrm>
          <a:off x="457200" y="1056874"/>
          <a:ext cx="8229599" cy="3820160"/>
        </p:xfrm>
        <a:graphic>
          <a:graphicData uri="http://schemas.openxmlformats.org/drawingml/2006/table">
            <a:tbl>
              <a:tblPr/>
              <a:tblGrid>
                <a:gridCol w="2017579">
                  <a:extLst>
                    <a:ext uri="{9D8B030D-6E8A-4147-A177-3AD203B41FA5}">
                      <a16:colId xmlns:a16="http://schemas.microsoft.com/office/drawing/2014/main" val="1610986322"/>
                    </a:ext>
                  </a:extLst>
                </a:gridCol>
                <a:gridCol w="2017579">
                  <a:extLst>
                    <a:ext uri="{9D8B030D-6E8A-4147-A177-3AD203B41FA5}">
                      <a16:colId xmlns:a16="http://schemas.microsoft.com/office/drawing/2014/main" val="3082289345"/>
                    </a:ext>
                  </a:extLst>
                </a:gridCol>
                <a:gridCol w="2017579">
                  <a:extLst>
                    <a:ext uri="{9D8B030D-6E8A-4147-A177-3AD203B41FA5}">
                      <a16:colId xmlns:a16="http://schemas.microsoft.com/office/drawing/2014/main" val="442822183"/>
                    </a:ext>
                  </a:extLst>
                </a:gridCol>
                <a:gridCol w="2176862">
                  <a:extLst>
                    <a:ext uri="{9D8B030D-6E8A-4147-A177-3AD203B41FA5}">
                      <a16:colId xmlns:a16="http://schemas.microsoft.com/office/drawing/2014/main" val="2373985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Effect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PAM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SAM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AAM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885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Laterality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.860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.875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.051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103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Difficulty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.037</a:t>
                      </a: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*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.928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.322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022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Position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&lt;.001</a:t>
                      </a: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*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.460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.053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29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Lat × Diff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.018</a:t>
                      </a: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*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.385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.091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979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Lat × Pos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.314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.284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.420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439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Diff × Pos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.344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.154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.425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836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Lat × Diff × Pos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.379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.776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.294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6047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CBE1724-FEEE-39FF-6E37-5CCCFD494BCE}"/>
              </a:ext>
            </a:extLst>
          </p:cNvPr>
          <p:cNvSpPr txBox="1"/>
          <p:nvPr/>
        </p:nvSpPr>
        <p:spPr>
          <a:xfrm>
            <a:off x="641268" y="6234701"/>
            <a:ext cx="45482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*Significant at p &lt; .05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C8832D-02C9-2C40-94F6-ED11637D9A47}"/>
              </a:ext>
            </a:extLst>
          </p:cNvPr>
          <p:cNvSpPr txBox="1"/>
          <p:nvPr/>
        </p:nvSpPr>
        <p:spPr>
          <a:xfrm>
            <a:off x="1976617" y="5036196"/>
            <a:ext cx="56754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Table 3. Comparison of Repeated Measures </a:t>
            </a:r>
            <a:r>
              <a:rPr lang="en-IN" sz="1200" dirty="0" err="1"/>
              <a:t>Annova</a:t>
            </a:r>
            <a:r>
              <a:rPr lang="en-IN" sz="1200" dirty="0"/>
              <a:t> table of PAM , SAM and AAM[29]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DB7112-B173-EC03-D3A1-76D543E94A3E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90283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7BD15-2BD4-A2AC-E52B-CAD4C798B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Discussion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A5733-E62F-BBF5-EFBE-DB6B3EAB8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7250"/>
            <a:ext cx="8229600" cy="5143500"/>
          </a:xfrm>
        </p:spPr>
        <p:txBody>
          <a:bodyPr/>
          <a:lstStyle/>
          <a:p>
            <a:r>
              <a:rPr lang="en-US" sz="2400" dirty="0"/>
              <a:t>Kahneman (System 1/2): Defines the effort level (Automatic vs. Effortful)</a:t>
            </a:r>
            <a:r>
              <a:rPr lang="en-US" sz="1800" dirty="0"/>
              <a:t>[11].</a:t>
            </a:r>
          </a:p>
          <a:p>
            <a:r>
              <a:rPr lang="en-US" sz="2400" dirty="0"/>
              <a:t>Lavie (Load Theory): Explains how capacity is exhausted</a:t>
            </a:r>
            <a:r>
              <a:rPr lang="en-US" sz="1800" dirty="0"/>
              <a:t>[10].</a:t>
            </a:r>
          </a:p>
          <a:p>
            <a:r>
              <a:rPr lang="en-US" sz="2400" dirty="0"/>
              <a:t>Wickens (MRT): Explains why some muscles (SAM/AAM) are sacrificed to save resources</a:t>
            </a:r>
            <a:r>
              <a:rPr lang="en-US" sz="1800" dirty="0"/>
              <a:t>[27].</a:t>
            </a:r>
          </a:p>
          <a:p>
            <a:r>
              <a:rPr lang="en-US" sz="2400" dirty="0"/>
              <a:t>Cowan (Focus of Attention): Pinpoints what the PAM is actually doing. It is the physical "anchor" for the focus of attention</a:t>
            </a:r>
            <a:r>
              <a:rPr lang="en-US" sz="1800" dirty="0"/>
              <a:t>[26].</a:t>
            </a:r>
          </a:p>
          <a:p>
            <a:r>
              <a:rPr lang="en-US" sz="2400" dirty="0"/>
              <a:t>Strauss (Neural Fossil): Confirms that this "anchor" is a permanent evolutionary remnant</a:t>
            </a:r>
            <a:r>
              <a:rPr lang="en-US" sz="1800" dirty="0"/>
              <a:t>[1].</a:t>
            </a: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FAF1B-33F4-9DEC-3A43-CF459E72A565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416856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B1A34-1339-BD54-27FC-B20C1F727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Discussion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42E49C-66A9-4941-EEE8-CB0F935AD6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245234"/>
              </p:ext>
            </p:extLst>
          </p:nvPr>
        </p:nvGraphicFramePr>
        <p:xfrm>
          <a:off x="457199" y="1152325"/>
          <a:ext cx="8229601" cy="3484880"/>
        </p:xfrm>
        <a:graphic>
          <a:graphicData uri="http://schemas.openxmlformats.org/drawingml/2006/table">
            <a:tbl>
              <a:tblPr/>
              <a:tblGrid>
                <a:gridCol w="2672862">
                  <a:extLst>
                    <a:ext uri="{9D8B030D-6E8A-4147-A177-3AD203B41FA5}">
                      <a16:colId xmlns:a16="http://schemas.microsoft.com/office/drawing/2014/main" val="1000817927"/>
                    </a:ext>
                  </a:extLst>
                </a:gridCol>
                <a:gridCol w="2672862">
                  <a:extLst>
                    <a:ext uri="{9D8B030D-6E8A-4147-A177-3AD203B41FA5}">
                      <a16:colId xmlns:a16="http://schemas.microsoft.com/office/drawing/2014/main" val="1793614196"/>
                    </a:ext>
                  </a:extLst>
                </a:gridCol>
                <a:gridCol w="2883877">
                  <a:extLst>
                    <a:ext uri="{9D8B030D-6E8A-4147-A177-3AD203B41FA5}">
                      <a16:colId xmlns:a16="http://schemas.microsoft.com/office/drawing/2014/main" val="430733005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Strauss et al. (2020)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Your Study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06646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Muscle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PAM (Active)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PAM (Significant modulation)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206586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Secondary Muscles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SAM/AAM (Active)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SAM/AAM (Non-significant/Null)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907205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Cognitive Load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Standard endogenous task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cognitive load introduced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303909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Conclusion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Supports vestigial orienting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Supports PAM as primary effort-biomarker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3729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D6BBB7A-CCF4-17EE-A237-134E57B89143}"/>
              </a:ext>
            </a:extLst>
          </p:cNvPr>
          <p:cNvSpPr txBox="1"/>
          <p:nvPr/>
        </p:nvSpPr>
        <p:spPr>
          <a:xfrm>
            <a:off x="2742574" y="4734035"/>
            <a:ext cx="5082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Table 4. Comparison of Endogenous experiment result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BBE06-5DA8-1FFC-FA4F-31B25A35D024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701286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4DF72-400C-46CE-87EC-23554B03F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70C41-A2E9-55E7-A801-C20B2C1F9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PAM as a Biomarker: We successfully identified the PAM as a reliable physiological indicator of listening effort, independent of general muscle tension.</a:t>
            </a:r>
          </a:p>
          <a:p>
            <a:r>
              <a:rPr lang="en-US" sz="2000" dirty="0"/>
              <a:t>Evidence of Gating: Our findings support the theory of "inhibitory gating," where the brain selectively suppresses non-essential motor reflexes under stress to protect its limited cognitive resources.</a:t>
            </a:r>
          </a:p>
          <a:p>
            <a:r>
              <a:rPr lang="en-US" sz="2000" dirty="0"/>
              <a:t>Future Impact: This research paves the way for objective, muscle-based monitoring of mental effort in real-world environments, such as during the use of hearing aids or communication devices.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435B4-9496-2210-5393-4768B770F37C}"/>
              </a:ext>
            </a:extLst>
          </p:cNvPr>
          <p:cNvSpPr txBox="1"/>
          <p:nvPr/>
        </p:nvSpPr>
        <p:spPr>
          <a:xfrm>
            <a:off x="8336477" y="6399860"/>
            <a:ext cx="49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8341904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7010-9405-8057-E6B1-E8B8DC25E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Bibliography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D44A6A4-77B0-72D0-E7AB-941EE23D1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IN" sz="1400" dirty="0"/>
              <a:t>Daniel J </a:t>
            </a:r>
            <a:r>
              <a:rPr lang="en-IN" sz="1400" dirty="0" err="1"/>
              <a:t>Strauss,Farah</a:t>
            </a:r>
            <a:r>
              <a:rPr lang="en-IN" sz="1400" dirty="0"/>
              <a:t> I Corona-</a:t>
            </a:r>
            <a:r>
              <a:rPr lang="en-IN" sz="1400" dirty="0" err="1"/>
              <a:t>Strauss,Andreas</a:t>
            </a:r>
            <a:r>
              <a:rPr lang="en-IN" sz="1400" dirty="0"/>
              <a:t> </a:t>
            </a:r>
            <a:r>
              <a:rPr lang="en-IN" sz="1400" dirty="0" err="1"/>
              <a:t>Schroeer,Philipp</a:t>
            </a:r>
            <a:r>
              <a:rPr lang="en-IN" sz="1400" dirty="0"/>
              <a:t> </a:t>
            </a:r>
            <a:r>
              <a:rPr lang="en-IN" sz="1400" dirty="0" err="1"/>
              <a:t>Flotho,Ronny</a:t>
            </a:r>
            <a:r>
              <a:rPr lang="en-IN" sz="1400" dirty="0"/>
              <a:t> </a:t>
            </a:r>
            <a:r>
              <a:rPr lang="en-IN" sz="1400" dirty="0" err="1"/>
              <a:t>Hannemann,Steven</a:t>
            </a:r>
            <a:r>
              <a:rPr lang="en-IN" sz="1400" dirty="0"/>
              <a:t> A Hackley, “Vestigial </a:t>
            </a:r>
            <a:r>
              <a:rPr lang="en-IN" sz="1400" dirty="0" err="1"/>
              <a:t>auriculomotor</a:t>
            </a:r>
            <a:r>
              <a:rPr lang="en-IN" sz="1400" dirty="0"/>
              <a:t> activity indicates the direction of auditory attention in humans,” </a:t>
            </a:r>
            <a:r>
              <a:rPr lang="en-IN" sz="1400" dirty="0" err="1"/>
              <a:t>eLife</a:t>
            </a:r>
            <a:r>
              <a:rPr lang="en-IN" sz="1400" dirty="0"/>
              <a:t>, 2020. 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Adrian Mai, Steven A. Hillyard, Daniel J. Strauss and Farah I. Corona-Strauss, “Selective Listening to Unpredictable Sound Sequences Increases Tonic Muscle Activity in the Human Vestigial </a:t>
            </a:r>
            <a:r>
              <a:rPr lang="en-US" sz="1400" dirty="0" err="1"/>
              <a:t>Auriculomotor</a:t>
            </a:r>
            <a:r>
              <a:rPr lang="en-US" sz="1400" dirty="0"/>
              <a:t> System,” </a:t>
            </a:r>
            <a:r>
              <a:rPr lang="en-US" sz="1400" i="1" dirty="0" err="1"/>
              <a:t>eNeuro</a:t>
            </a:r>
            <a:r>
              <a:rPr lang="en-US" sz="1400" i="1" dirty="0"/>
              <a:t>: Society for Neuroscience, </a:t>
            </a:r>
            <a:r>
              <a:rPr lang="en-US" sz="1400" dirty="0"/>
              <a:t>2025. </a:t>
            </a:r>
          </a:p>
          <a:p>
            <a:pPr>
              <a:buFont typeface="+mj-lt"/>
              <a:buAutoNum type="arabicPeriod"/>
            </a:pPr>
            <a:r>
              <a:rPr lang="en-IN" sz="1400" dirty="0"/>
              <a:t>Katrin </a:t>
            </a:r>
            <a:r>
              <a:rPr lang="en-IN" sz="1400" dirty="0" err="1"/>
              <a:t>Repkow,Stefanie</a:t>
            </a:r>
            <a:r>
              <a:rPr lang="en-IN" sz="1400" dirty="0"/>
              <a:t> Bauer, “</a:t>
            </a:r>
            <a:r>
              <a:rPr lang="en-IN" sz="1400" dirty="0" err="1"/>
              <a:t>Kenhub</a:t>
            </a:r>
            <a:r>
              <a:rPr lang="en-IN" sz="1400" dirty="0"/>
              <a:t>,” </a:t>
            </a:r>
            <a:r>
              <a:rPr lang="en-IN" sz="1400" dirty="0" err="1"/>
              <a:t>Kenhub</a:t>
            </a:r>
            <a:r>
              <a:rPr lang="en-IN" sz="1400" dirty="0"/>
              <a:t> </a:t>
            </a:r>
            <a:r>
              <a:rPr lang="en-IN" sz="1400" dirty="0" err="1"/>
              <a:t>GmnH</a:t>
            </a:r>
            <a:r>
              <a:rPr lang="en-IN" sz="1400" dirty="0"/>
              <a:t>, 11 October 2023. [Online]. Available: </a:t>
            </a:r>
            <a:r>
              <a:rPr lang="en-IN" sz="1400" dirty="0">
                <a:hlinkClick r:id="rId2"/>
              </a:rPr>
              <a:t>https://www.kenhub.com/de/library/anatomie/musculus-auricularis-posterior</a:t>
            </a:r>
            <a:r>
              <a:rPr lang="en-IN" sz="1400" dirty="0"/>
              <a:t>.</a:t>
            </a:r>
          </a:p>
          <a:p>
            <a:pPr>
              <a:buFont typeface="+mj-lt"/>
              <a:buAutoNum type="arabicPeriod"/>
            </a:pPr>
            <a:r>
              <a:rPr lang="en-IN" sz="1400" dirty="0" err="1"/>
              <a:t>Schroeer</a:t>
            </a:r>
            <a:r>
              <a:rPr lang="en-IN" sz="1400" dirty="0"/>
              <a:t> A, Corona-Strauss FI, Hannemann R, Hackley SA and Strauss DJ, “Electromyographic correlates of effortful listening in the vestigial </a:t>
            </a:r>
            <a:r>
              <a:rPr lang="en-IN" sz="1400" dirty="0" err="1"/>
              <a:t>auriculomotor</a:t>
            </a:r>
            <a:r>
              <a:rPr lang="en-IN" sz="1400" dirty="0"/>
              <a:t> system,” frontiers in Neuroscience, 2025. 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P. JE, “Listening Effort: How the Cognitive Consequences of Acoustic Challenge Are Reflected in Brain and Behavior.,” Ear and Hearing, vol. 39, no. 2, p. 204, 2018. 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J. Blauert, The Psychophysics of Human Sound Localization, Harvard MA: The MIT Press, 1983. 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Pickles, James, An Introduction to the Physiology of Hearing: Fourth Edition, BRILL ACADEMIC PUB, 2013. </a:t>
            </a:r>
          </a:p>
          <a:p>
            <a:pPr>
              <a:buFont typeface="+mj-lt"/>
              <a:buAutoNum type="arabicPeriod"/>
            </a:pPr>
            <a:r>
              <a:rPr lang="en-IN" sz="1400" dirty="0"/>
              <a:t>Stamatina </a:t>
            </a:r>
            <a:r>
              <a:rPr lang="en-IN" sz="1400" dirty="0" err="1"/>
              <a:t>Kalafata</a:t>
            </a:r>
            <a:r>
              <a:rPr lang="en-IN" sz="1400" dirty="0"/>
              <a:t>, Kerstin Persson Waye, “THE SAHLGRENSKA ACADEMY INSTITUTE OF MEDICINE THE IMPORTANCE OF LOW FREQUENCY MASKING ON AUDITORY PERCEPTION Literature Review REPORT NO 4:2017 FROM THE UNIT FOR OCCUPATIONAL &amp; ENVIRONMENTAL MEDICINE IN GOTHENBURG,” </a:t>
            </a:r>
            <a:r>
              <a:rPr lang="en-IN" sz="1400" dirty="0" err="1"/>
              <a:t>Arbets</a:t>
            </a:r>
            <a:r>
              <a:rPr lang="en-IN" sz="1400" dirty="0"/>
              <a:t>- och </a:t>
            </a:r>
            <a:r>
              <a:rPr lang="en-IN" sz="1400" dirty="0" err="1"/>
              <a:t>miljömedicin</a:t>
            </a:r>
            <a:r>
              <a:rPr lang="en-IN" sz="1400" dirty="0"/>
              <a:t>, </a:t>
            </a:r>
            <a:r>
              <a:rPr lang="en-IN" sz="1400" dirty="0" err="1"/>
              <a:t>Göteborgs</a:t>
            </a:r>
            <a:r>
              <a:rPr lang="en-IN" sz="1400" dirty="0"/>
              <a:t> </a:t>
            </a:r>
            <a:r>
              <a:rPr lang="en-IN" sz="1400" dirty="0" err="1"/>
              <a:t>universitet</a:t>
            </a:r>
            <a:r>
              <a:rPr lang="en-IN" sz="1400" dirty="0"/>
              <a:t>, Gothenburg (Göteborg), Sweden, 2020.</a:t>
            </a:r>
          </a:p>
        </p:txBody>
      </p:sp>
    </p:spTree>
    <p:extLst>
      <p:ext uri="{BB962C8B-B14F-4D97-AF65-F5344CB8AC3E}">
        <p14:creationId xmlns:p14="http://schemas.microsoft.com/office/powerpoint/2010/main" val="27235525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7D7BC-7B41-25A0-774B-20647F738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99498-B132-222F-BC26-69DDE15A8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9"/>
            </a:pPr>
            <a:r>
              <a:rPr lang="en-IN" sz="1400" dirty="0"/>
              <a:t>R V Shannon 1, F G Zeng, V Kamath, J </a:t>
            </a:r>
            <a:r>
              <a:rPr lang="en-IN" sz="1400" dirty="0" err="1"/>
              <a:t>Wygonski</a:t>
            </a:r>
            <a:r>
              <a:rPr lang="en-IN" sz="1400" dirty="0"/>
              <a:t>, M </a:t>
            </a:r>
            <a:r>
              <a:rPr lang="en-IN" sz="1400" dirty="0" err="1"/>
              <a:t>Ekelid</a:t>
            </a:r>
            <a:r>
              <a:rPr lang="en-IN" sz="1400" dirty="0"/>
              <a:t>, “Speech recognition with primarily temporal cues,” Science, vol. 270, no. 5234, p. 303–304, 1995. 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sz="1400" dirty="0"/>
              <a:t>Lavie N, Hirst A, de </a:t>
            </a:r>
            <a:r>
              <a:rPr lang="en-US" sz="1400" dirty="0" err="1"/>
              <a:t>Fockert</a:t>
            </a:r>
            <a:r>
              <a:rPr lang="en-US" sz="1400" dirty="0"/>
              <a:t> JW, Viding E., “Load theory of selective attention and cognitive control,” journal of Experimental Psychology, 2004. 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sz="1400" dirty="0" err="1"/>
              <a:t>Bruya</a:t>
            </a:r>
            <a:r>
              <a:rPr lang="en-US" sz="1400" dirty="0"/>
              <a:t> B, Tang Y-Y, “Is Attention Really Effort? Revisiting Daniel Kahneman’s Influential 1973 Book Attention and Effort.,” frontiers in Psychology, 2018. 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sz="1400" dirty="0"/>
              <a:t>J. </a:t>
            </a:r>
            <a:r>
              <a:rPr lang="en-US" sz="1400" dirty="0" err="1"/>
              <a:t>Sweller</a:t>
            </a:r>
            <a:r>
              <a:rPr lang="en-US" sz="1400" dirty="0"/>
              <a:t>, “Cognitive load during problem solving: Effects on learning,,” Cognitive Science, vol. 12, no. 2, pp. 257-285, 1988. 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sz="1400" dirty="0"/>
              <a:t>B. A, “Working memory: looking back and looking forward.,” Nature Reviews Neuroscience., 2003. 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IN" sz="1400" dirty="0"/>
              <a:t>O'Sullivan, J. A., et </a:t>
            </a:r>
            <a:r>
              <a:rPr lang="en-IN" sz="1400" dirty="0" err="1"/>
              <a:t>al,Alan</a:t>
            </a:r>
            <a:r>
              <a:rPr lang="en-IN" sz="1400" dirty="0"/>
              <a:t> J </a:t>
            </a:r>
            <a:r>
              <a:rPr lang="en-IN" sz="1400" dirty="0" err="1"/>
              <a:t>Power,Nima</a:t>
            </a:r>
            <a:r>
              <a:rPr lang="en-IN" sz="1400" dirty="0"/>
              <a:t> </a:t>
            </a:r>
            <a:r>
              <a:rPr lang="en-IN" sz="1400" dirty="0" err="1"/>
              <a:t>Mesgarani</a:t>
            </a:r>
            <a:r>
              <a:rPr lang="en-IN" sz="1400" dirty="0"/>
              <a:t>, Siddharth Rajaram , John J Foxe , Barbara G Shinn-Cunningham , Malcolm Slaney , Shihab A Shamma , Edmund C Lalor, “Attentional Selection in a Cocktail Party Environment Can Be Decoded from Single-Trial EEG. Cerebral Cortex.,” Cerebral Cortex, 2015. 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sz="1400" dirty="0" err="1"/>
              <a:t>Zekveld</a:t>
            </a:r>
            <a:r>
              <a:rPr lang="en-US" sz="1400" dirty="0"/>
              <a:t> AA, Kramer SE, </a:t>
            </a:r>
            <a:r>
              <a:rPr lang="en-US" sz="1400" dirty="0" err="1"/>
              <a:t>Festen</a:t>
            </a:r>
            <a:r>
              <a:rPr lang="en-US" sz="1400" dirty="0"/>
              <a:t> JM, “Pupil response as an indication of effortful listening: the influence of sentence intelligibility.,” Experimental Psychology: Human Perception and Performance., 2010. 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IN" sz="1400" dirty="0"/>
              <a:t>Shannon RV, Zeng FG, Kamath V, </a:t>
            </a:r>
            <a:r>
              <a:rPr lang="en-IN" sz="1400" dirty="0" err="1"/>
              <a:t>Wygonski</a:t>
            </a:r>
            <a:r>
              <a:rPr lang="en-IN" sz="1400" dirty="0"/>
              <a:t> J, </a:t>
            </a:r>
            <a:r>
              <a:rPr lang="en-IN" sz="1400" dirty="0" err="1"/>
              <a:t>Ekelid</a:t>
            </a:r>
            <a:r>
              <a:rPr lang="en-IN" sz="1400" dirty="0"/>
              <a:t> M, “Speech recognition with primarily temporal cues.,” Science, 1995</a:t>
            </a:r>
          </a:p>
        </p:txBody>
      </p:sp>
    </p:spTree>
    <p:extLst>
      <p:ext uri="{BB962C8B-B14F-4D97-AF65-F5344CB8AC3E}">
        <p14:creationId xmlns:p14="http://schemas.microsoft.com/office/powerpoint/2010/main" val="749493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361B7-C399-6045-D4D4-68B4B6350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681D2-4B7C-6B9E-830E-7D0C2EA38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17"/>
            </a:pPr>
            <a:r>
              <a:rPr lang="en-IN" sz="1400" dirty="0"/>
              <a:t>M Kathleen </a:t>
            </a:r>
            <a:r>
              <a:rPr lang="en-IN" sz="1400" dirty="0" err="1"/>
              <a:t>Pichora</a:t>
            </a:r>
            <a:r>
              <a:rPr lang="en-IN" sz="1400" dirty="0"/>
              <a:t>-Fuller 1, Sophia E Kramer, Mark A Eckert, Brent Edwards, Benjamin W Y Hornsby, Larry E Humes, Ulrike Lemke, Thomas Lunner, Mohan Matthen, Carol L </a:t>
            </a:r>
            <a:r>
              <a:rPr lang="en-IN" sz="1400" dirty="0" err="1"/>
              <a:t>Mackersie</a:t>
            </a:r>
            <a:r>
              <a:rPr lang="en-IN" sz="1400" dirty="0"/>
              <a:t>, Graham Naylor, Natalie A Phillips, Michael Richter, Mary Rudner, “Hearing Impairment and Cognitive Energy: The Framework for Understanding Effortful Listening (FUEL),” Ear and Hearing, 2016. 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IN" sz="1400" dirty="0" err="1"/>
              <a:t>Pichora</a:t>
            </a:r>
            <a:r>
              <a:rPr lang="en-IN" sz="1400" dirty="0"/>
              <a:t>-Fuller MK, Kramer SE, Eckert MA, Edwards B, Hornsby BW, Humes LE, Lemke U, Lunner T, Matthen M, </a:t>
            </a:r>
            <a:r>
              <a:rPr lang="en-IN" sz="1400" dirty="0" err="1"/>
              <a:t>Mackersie</a:t>
            </a:r>
            <a:r>
              <a:rPr lang="en-IN" sz="1400" dirty="0"/>
              <a:t> CL, Naylor G, Phillips NA, Richter M, Rudner M, Sommers MS, Tremblay KL, Wingfield A., “Hearing Impairment and Cognitive Energy: The Framework for Understanding Effortful Listening (FUEL).,” Ear and Hearing, 2016. 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sz="1400" dirty="0"/>
              <a:t>Shrestha B, Dunn L., “The Declaration of Helsinki on Medical Research involving Human Subjects: A Review of Seventh Revision,” Journal of Nepal Health Research Council., 2020. 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sz="1400" dirty="0"/>
              <a:t>A. Budge, “English Learning for Curious Minds,” [Online]. Available: </a:t>
            </a:r>
            <a:r>
              <a:rPr lang="en-US" sz="1400" dirty="0">
                <a:hlinkClick r:id="rId2"/>
              </a:rPr>
              <a:t>https://www.leonardoenglish.com/podcasts</a:t>
            </a:r>
            <a:r>
              <a:rPr lang="en-US" sz="1400" dirty="0"/>
              <a:t>.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IN" sz="1400" dirty="0" err="1"/>
              <a:t>Manyaa</a:t>
            </a:r>
            <a:r>
              <a:rPr lang="en-IN" sz="1400" dirty="0"/>
              <a:t> Bhatia, Samantha O’Connell, Julianne M Papadopoulos, Raymond L Goldsworthy, “Implementation of Cochlear Implant Speech Processor Architecture in MATLAB,” Bridge </a:t>
            </a:r>
            <a:r>
              <a:rPr lang="en-IN" sz="1400" dirty="0" err="1"/>
              <a:t>UnderGrad</a:t>
            </a:r>
            <a:r>
              <a:rPr lang="en-IN" sz="1400" dirty="0"/>
              <a:t> Science (BUGS) Summer Research Program. 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sz="1400" dirty="0"/>
              <a:t>“Cochlear Implant Speech Processor,” </a:t>
            </a:r>
            <a:r>
              <a:rPr lang="en-US" sz="1400" dirty="0" err="1"/>
              <a:t>Mathworks</a:t>
            </a:r>
            <a:r>
              <a:rPr lang="en-US" sz="1400" dirty="0"/>
              <a:t>, 2005-2022. [Online]. Available: </a:t>
            </a:r>
            <a:r>
              <a:rPr lang="en-US" sz="1400" dirty="0">
                <a:hlinkClick r:id="rId3"/>
              </a:rPr>
              <a:t>https://de.mathworks.com/help/dsp/ug/cochlear-implant-speech-processor.html</a:t>
            </a:r>
            <a:r>
              <a:rPr lang="en-US" sz="1400" dirty="0"/>
              <a:t>.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IN" sz="1400" dirty="0"/>
              <a:t>Angel de la Torre Vega ,Marta </a:t>
            </a:r>
            <a:r>
              <a:rPr lang="en-IN" sz="1400" dirty="0" err="1"/>
              <a:t>Bastarrica</a:t>
            </a:r>
            <a:r>
              <a:rPr lang="en-IN" sz="1400" dirty="0"/>
              <a:t> </a:t>
            </a:r>
            <a:r>
              <a:rPr lang="en-IN" sz="1400" dirty="0" err="1"/>
              <a:t>Mart,Rafael</a:t>
            </a:r>
            <a:r>
              <a:rPr lang="en-IN" sz="1400" dirty="0"/>
              <a:t> de la Torre </a:t>
            </a:r>
            <a:r>
              <a:rPr lang="en-IN" sz="1400" dirty="0" err="1"/>
              <a:t>Vega,Manuel</a:t>
            </a:r>
            <a:r>
              <a:rPr lang="en-IN" sz="1400" dirty="0"/>
              <a:t> Sainz Quevedo, “Cochlear Implant Simulation version 2.0,” University of Granda , 2004. </a:t>
            </a:r>
          </a:p>
        </p:txBody>
      </p:sp>
    </p:spTree>
    <p:extLst>
      <p:ext uri="{BB962C8B-B14F-4D97-AF65-F5344CB8AC3E}">
        <p14:creationId xmlns:p14="http://schemas.microsoft.com/office/powerpoint/2010/main" val="22444276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25A06-B961-23B4-A4A7-0D12EE3E7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FFB4-AA94-26B7-206A-367F57D05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4"/>
            </a:pPr>
            <a:r>
              <a:rPr lang="en-IN" sz="1400" dirty="0"/>
              <a:t>Urban PP, Marczynski U, Hopf HC, “The oculo-auricular phenomenon. Findings in normals and patients with brainstem lesions.,” Brain, 1993. </a:t>
            </a:r>
          </a:p>
          <a:p>
            <a:pPr marL="514350" indent="-514350">
              <a:buFont typeface="+mj-lt"/>
              <a:buAutoNum type="arabicPeriod" startAt="24"/>
            </a:pPr>
            <a:r>
              <a:rPr lang="en-US" sz="1400" dirty="0"/>
              <a:t>Hillyard SA, Hink RF, Schwent VL, </a:t>
            </a:r>
            <a:r>
              <a:rPr lang="en-US" sz="1400" dirty="0" err="1"/>
              <a:t>Picton</a:t>
            </a:r>
            <a:r>
              <a:rPr lang="en-US" sz="1400" dirty="0"/>
              <a:t> TW, “Electrical signs of selective attention in the human brain,” Science, 1973. </a:t>
            </a:r>
          </a:p>
          <a:p>
            <a:pPr marL="514350" indent="-514350">
              <a:buFont typeface="+mj-lt"/>
              <a:buAutoNum type="arabicPeriod" startAt="24"/>
            </a:pPr>
            <a:r>
              <a:rPr lang="en-US" sz="1400" dirty="0"/>
              <a:t>N. Cowan, “An Embedded-Processes Model of working memory,” APA </a:t>
            </a:r>
            <a:r>
              <a:rPr lang="en-US" sz="1400" dirty="0" err="1"/>
              <a:t>PsycNet</a:t>
            </a:r>
            <a:r>
              <a:rPr lang="en-US" sz="1400" dirty="0"/>
              <a:t>, 1997. </a:t>
            </a:r>
          </a:p>
          <a:p>
            <a:pPr marL="514350" indent="-514350">
              <a:buFont typeface="+mj-lt"/>
              <a:buAutoNum type="arabicPeriod" startAt="24"/>
            </a:pPr>
            <a:r>
              <a:rPr lang="en-US" sz="1400" dirty="0"/>
              <a:t>Wickens, C. D, “Multiple Resources and Mental Workload.,” Human Factors, vol. 50, no. 3, pp. 449-455, 2008.</a:t>
            </a:r>
          </a:p>
          <a:p>
            <a:pPr marL="514350" indent="-514350">
              <a:buFont typeface="+mj-lt"/>
              <a:buAutoNum type="arabicPeriod" startAt="24"/>
            </a:pPr>
            <a:r>
              <a:rPr lang="en-US" sz="1400" dirty="0"/>
              <a:t>M. GA., “Comparative Auditory Neuroscience: Understanding the Evolution and Function of Ears.,” Journal of the Association for Research in Otolaryngology, p. 1, 2016. </a:t>
            </a:r>
          </a:p>
          <a:p>
            <a:pPr marL="514350" indent="-514350">
              <a:buFont typeface="+mj-lt"/>
              <a:buAutoNum type="arabicPeriod" startAt="24"/>
            </a:pPr>
            <a:r>
              <a:rPr lang="en-IN" sz="1400" dirty="0"/>
              <a:t>JASP Team, "JASP (Version 0.19.0)," JASP Team, 2026. [Windows 11].</a:t>
            </a:r>
          </a:p>
          <a:p>
            <a:pPr marL="514350" indent="-514350">
              <a:buFont typeface="+mj-lt"/>
              <a:buAutoNum type="arabicPeriod" startAt="24"/>
            </a:pPr>
            <a:r>
              <a:rPr lang="en-IN" sz="1400" dirty="0"/>
              <a:t>PreSonus Audio Electronics, "Studio One (Version X.X)," PreSonus Audio Electronics, Baton Rouge, LA, USA, 2026. [Windows].</a:t>
            </a:r>
          </a:p>
          <a:p>
            <a:pPr marL="514350" indent="-514350">
              <a:buFont typeface="+mj-lt"/>
              <a:buAutoNum type="arabicPeriod" startAt="24"/>
            </a:pPr>
            <a:r>
              <a:rPr lang="en-IN" sz="1400" dirty="0"/>
              <a:t>diagrams.net, "diagrams.net (Version 26.0.0)," </a:t>
            </a:r>
            <a:r>
              <a:rPr lang="en-IN" sz="1400" dirty="0" err="1"/>
              <a:t>JGraph</a:t>
            </a:r>
            <a:r>
              <a:rPr lang="en-IN" sz="1400" dirty="0"/>
              <a:t> Ltd, 2026. [Windows 11].</a:t>
            </a:r>
          </a:p>
          <a:p>
            <a:pPr marL="514350" indent="-514350">
              <a:buFont typeface="+mj-lt"/>
              <a:buAutoNum type="arabicPeriod" startAt="24"/>
            </a:pPr>
            <a:r>
              <a:rPr lang="en-US" sz="1400" dirty="0"/>
              <a:t>The MathWorks Inc., "MATLAB (Version 2023b)," The MathWorks Inc., Natick, MA, USA, 2023. [Windows 11].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586072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idx="1"/>
          </p:nvPr>
        </p:nvSpPr>
        <p:spPr>
          <a:xfrm>
            <a:off x="1362075" y="2865438"/>
            <a:ext cx="6437313" cy="1125537"/>
          </a:xfrm>
        </p:spPr>
        <p:txBody>
          <a:bodyPr lIns="65290" tIns="32645" rIns="65290" bIns="32645"/>
          <a:lstStyle/>
          <a:p>
            <a:pPr algn="ctr" eaLnBrk="1" hangingPunct="1">
              <a:buFontTx/>
              <a:buNone/>
            </a:pPr>
            <a:r>
              <a:rPr lang="en-US" altLang="de-DE" b="1">
                <a:solidFill>
                  <a:srgbClr val="A50021"/>
                </a:solidFill>
              </a:rPr>
              <a:t>Thank You For Your</a:t>
            </a:r>
          </a:p>
          <a:p>
            <a:pPr algn="ctr" eaLnBrk="1" hangingPunct="1">
              <a:buFontTx/>
              <a:buNone/>
            </a:pPr>
            <a:r>
              <a:rPr lang="en-US" altLang="de-DE" b="1">
                <a:solidFill>
                  <a:srgbClr val="A50021"/>
                </a:solidFill>
              </a:rPr>
              <a:t>(Endogenous)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äsentation1">
  <a:themeElements>
    <a:clrScheme name="Präsentation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räsentation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Präsentation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äsentation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äsentation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äsentation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äsentation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äsentation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äsentation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äsentation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SNN_Unit_AKK</Template>
  <TotalTime>1358</TotalTime>
  <Words>2353</Words>
  <Application>Microsoft Office PowerPoint</Application>
  <PresentationFormat>On-screen Show (4:3)</PresentationFormat>
  <Paragraphs>337</Paragraphs>
  <Slides>34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AvantGarde Md BT</vt:lpstr>
      <vt:lpstr>Google Sans Text</vt:lpstr>
      <vt:lpstr>Präsentation1</vt:lpstr>
      <vt:lpstr>PowerPoint Presentation</vt:lpstr>
      <vt:lpstr>Contents</vt:lpstr>
      <vt:lpstr>Introduction</vt:lpstr>
      <vt:lpstr>Motivation</vt:lpstr>
      <vt:lpstr>Goal</vt:lpstr>
      <vt:lpstr>Cochlea</vt:lpstr>
      <vt:lpstr>Materials and Methods</vt:lpstr>
      <vt:lpstr>Materials and Methods</vt:lpstr>
      <vt:lpstr>Materials and Methods</vt:lpstr>
      <vt:lpstr>Materials and Methods</vt:lpstr>
      <vt:lpstr>Materials and Methods</vt:lpstr>
      <vt:lpstr>Materials and Methods</vt:lpstr>
      <vt:lpstr>Materials and Methods</vt:lpstr>
      <vt:lpstr>Subjective Analysis – Percentage Understood</vt:lpstr>
      <vt:lpstr>Subjective Analysis - Effort</vt:lpstr>
      <vt:lpstr>Subjective Analysis - Frustration</vt:lpstr>
      <vt:lpstr>Subjective Analysis - Performance</vt:lpstr>
      <vt:lpstr>Subjective Analysis -  Listening Effort</vt:lpstr>
      <vt:lpstr>Subjective Analysis – Speech Intelligibility</vt:lpstr>
      <vt:lpstr>Subjective Analysis – MCQ’s</vt:lpstr>
      <vt:lpstr>Objective Analysis - PAM</vt:lpstr>
      <vt:lpstr>Objective Analysis - PAM</vt:lpstr>
      <vt:lpstr>Objective Analysis - PAM</vt:lpstr>
      <vt:lpstr>Objective Analysis - PAM</vt:lpstr>
      <vt:lpstr>Objective Analysis - PAM</vt:lpstr>
      <vt:lpstr>Objective Analysis – PAM, SAM, AAM</vt:lpstr>
      <vt:lpstr>Discussion</vt:lpstr>
      <vt:lpstr>Discussion</vt:lpstr>
      <vt:lpstr>Conclusion</vt:lpstr>
      <vt:lpstr>Bibliography</vt:lpstr>
      <vt:lpstr>Bibliography</vt:lpstr>
      <vt:lpstr>Bibliography</vt:lpstr>
      <vt:lpstr>Bibliography</vt:lpstr>
      <vt:lpstr>PowerPoint Presentation</vt:lpstr>
    </vt:vector>
  </TitlesOfParts>
  <Company>CDB-Unit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Daniel J. Strauss</dc:creator>
  <cp:lastModifiedBy>Asha Babu</cp:lastModifiedBy>
  <cp:revision>1277</cp:revision>
  <dcterms:created xsi:type="dcterms:W3CDTF">2010-08-06T11:19:21Z</dcterms:created>
  <dcterms:modified xsi:type="dcterms:W3CDTF">2026-03-26T14:13:24Z</dcterms:modified>
</cp:coreProperties>
</file>